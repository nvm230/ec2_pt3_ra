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9" r:id="rId19"/>
  </p:sldIdLst>
  <p:sldSz cx="18288000" cy="10287000"/>
  <p:notesSz cx="6858000" cy="9144000"/>
  <p:embeddedFontLst>
    <p:embeddedFont>
      <p:font typeface="Hero" charset="1" panose="00000500000000000000"/>
      <p:regular r:id="rId26"/>
    </p:embeddedFont>
    <p:embeddedFont>
      <p:font typeface="Hero Bold" charset="1" panose="00000500000000000000"/>
      <p:regular r:id="rId27"/>
    </p:embeddedFont>
    <p:embeddedFont>
      <p:font typeface="Open Sans" charset="1" panose="020B0606030504020204"/>
      <p:regular r:id="rId28"/>
    </p:embeddedFont>
    <p:embeddedFont>
      <p:font typeface="Lato" charset="1" panose="020F0502020204030203"/>
      <p:regular r:id="rId29"/>
    </p:embeddedFont>
    <p:embeddedFont>
      <p:font typeface="Open Sans Bold" charset="1" panose="020B0806030504020204"/>
      <p:regular r:id="rId30"/>
    </p:embeddedFont>
    <p:embeddedFont>
      <p:font typeface="TT Rounds Condensed Bold" charset="1" panose="02000806030000020003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9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4" Type="http://schemas.openxmlformats.org/officeDocument/2006/relationships/theme" Target="theme/theme2.xml"/><Relationship Id="rId25" Type="http://schemas.openxmlformats.org/officeDocument/2006/relationships/notesSlide" Target="notesSlides/notesSlide1.xml"/><Relationship Id="rId26" Type="http://schemas.openxmlformats.org/officeDocument/2006/relationships/font" Target="fonts/font26.fntdata"/><Relationship Id="rId27" Type="http://schemas.openxmlformats.org/officeDocument/2006/relationships/font" Target="fonts/font27.fntdata"/><Relationship Id="rId28" Type="http://schemas.openxmlformats.org/officeDocument/2006/relationships/font" Target="fonts/font28.fntdata"/><Relationship Id="rId29" Type="http://schemas.openxmlformats.org/officeDocument/2006/relationships/font" Target="fonts/font29.fntdata"/><Relationship Id="rId30" Type="http://schemas.openxmlformats.org/officeDocument/2006/relationships/font" Target="fonts/font30.fntdata"/><Relationship Id="rId31" Type="http://schemas.openxmlformats.org/officeDocument/2006/relationships/notesSlide" Target="notesSlides/notesSlide2.xml"/><Relationship Id="rId32" Type="http://schemas.openxmlformats.org/officeDocument/2006/relationships/notesSlide" Target="notesSlides/notesSlide3.xml"/><Relationship Id="rId33" Type="http://schemas.openxmlformats.org/officeDocument/2006/relationships/font" Target="fonts/font3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www.canva.com/design/DAG6T1bxdjw/LXQfgOg9ahVNuh08z98MXw/edit?utm_content=DAG6T1bxdjw&amp;utm_campaign=designshare&amp;utm_medium=link2&amp;utm_source=sharebutton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8.png"/><Relationship Id="rId7" Type="http://schemas.openxmlformats.org/officeDocument/2006/relationships/oleObject" Target="../embeddings/oleObject2.bin"/><Relationship Id="rId8" Type="http://schemas.openxmlformats.org/officeDocument/2006/relationships/image" Target="../media/image43.png"/><Relationship Id="rId9" Type="http://schemas.openxmlformats.org/officeDocument/2006/relationships/image" Target="../media/image4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jpeg"/><Relationship Id="rId5" Type="http://schemas.microsoft.com/office/2007/relationships/media" Target="../media/media1.mp4"/><Relationship Id="rId6" Type="http://schemas.openxmlformats.org/officeDocument/2006/relationships/video" Target="../media/media1.mp4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oleObject" Target="../embeddings/oleObject3.bin"/><Relationship Id="rId6" Type="http://schemas.openxmlformats.org/officeDocument/2006/relationships/image" Target="../media/image49.png"/><Relationship Id="rId7" Type="http://schemas.microsoft.com/office/2007/relationships/media" Target="../media/media2.mp4"/><Relationship Id="rId8" Type="http://schemas.openxmlformats.org/officeDocument/2006/relationships/video" Target="../media/media2.mp4"/><Relationship Id="rId9" Type="http://schemas.openxmlformats.org/officeDocument/2006/relationships/image" Target="../media/image50.png"/><Relationship Id="rId10" Type="http://schemas.openxmlformats.org/officeDocument/2006/relationships/image" Target="../media/image5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9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75162" y="-50015"/>
            <a:ext cx="8284847" cy="10337015"/>
          </a:xfrm>
          <a:custGeom>
            <a:avLst/>
            <a:gdLst/>
            <a:ahLst/>
            <a:cxnLst/>
            <a:rect r="r" b="b" t="t" l="l"/>
            <a:pathLst>
              <a:path h="10337015" w="8284847">
                <a:moveTo>
                  <a:pt x="0" y="0"/>
                </a:moveTo>
                <a:lnTo>
                  <a:pt x="8284847" y="0"/>
                </a:lnTo>
                <a:lnTo>
                  <a:pt x="8284847" y="10337015"/>
                </a:lnTo>
                <a:lnTo>
                  <a:pt x="0" y="103370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1570" t="0" r="-24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08150" y="-650362"/>
            <a:ext cx="9141423" cy="3086100"/>
            <a:chOff x="0" y="0"/>
            <a:chExt cx="2407618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7618" cy="812800"/>
            </a:xfrm>
            <a:custGeom>
              <a:avLst/>
              <a:gdLst/>
              <a:ahLst/>
              <a:cxnLst/>
              <a:rect r="r" b="b" t="t" l="l"/>
              <a:pathLst>
                <a:path h="812800" w="2407618">
                  <a:moveTo>
                    <a:pt x="43192" y="0"/>
                  </a:moveTo>
                  <a:lnTo>
                    <a:pt x="2364425" y="0"/>
                  </a:lnTo>
                  <a:cubicBezTo>
                    <a:pt x="2375881" y="0"/>
                    <a:pt x="2386867" y="4551"/>
                    <a:pt x="2394967" y="12651"/>
                  </a:cubicBezTo>
                  <a:cubicBezTo>
                    <a:pt x="2403067" y="20751"/>
                    <a:pt x="2407618" y="31737"/>
                    <a:pt x="2407618" y="43192"/>
                  </a:cubicBezTo>
                  <a:lnTo>
                    <a:pt x="2407618" y="769608"/>
                  </a:lnTo>
                  <a:cubicBezTo>
                    <a:pt x="2407618" y="781063"/>
                    <a:pt x="2403067" y="792049"/>
                    <a:pt x="2394967" y="800149"/>
                  </a:cubicBezTo>
                  <a:cubicBezTo>
                    <a:pt x="2386867" y="808249"/>
                    <a:pt x="2375881" y="812800"/>
                    <a:pt x="2364425" y="812800"/>
                  </a:cubicBezTo>
                  <a:lnTo>
                    <a:pt x="43192" y="812800"/>
                  </a:lnTo>
                  <a:cubicBezTo>
                    <a:pt x="31737" y="812800"/>
                    <a:pt x="20751" y="808249"/>
                    <a:pt x="12651" y="800149"/>
                  </a:cubicBezTo>
                  <a:cubicBezTo>
                    <a:pt x="4551" y="792049"/>
                    <a:pt x="0" y="781063"/>
                    <a:pt x="0" y="769608"/>
                  </a:cubicBezTo>
                  <a:lnTo>
                    <a:pt x="0" y="43192"/>
                  </a:lnTo>
                  <a:cubicBezTo>
                    <a:pt x="0" y="31737"/>
                    <a:pt x="4551" y="20751"/>
                    <a:pt x="12651" y="12651"/>
                  </a:cubicBezTo>
                  <a:cubicBezTo>
                    <a:pt x="20751" y="4551"/>
                    <a:pt x="31737" y="0"/>
                    <a:pt x="431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407618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5545212"/>
            <a:ext cx="5910216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3840"/>
              </a:lnSpc>
              <a:buFont typeface="Arial"/>
              <a:buChar char="•"/>
              <a:defRPr b="1" sz="2200">
                <a:solidFill>
                  <a:srgbClr val="0F172A"/>
                </a:solidFill>
              </a:defRPr>
            </a:pPr>
            <a:r>
              <a:t>Alegría, Marco Antonio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1028700"/>
            <a:ext cx="10501574" cy="2859158"/>
            <a:chOff x="0" y="0"/>
            <a:chExt cx="14002099" cy="381221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3129387" y="2898101"/>
              <a:ext cx="7743325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r>
                <a:t>2026-2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66675"/>
              <a:ext cx="14002099" cy="2717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59"/>
                </a:lnSpc>
                <a:defRPr b="1" sz="2800">
                  <a:solidFill>
                    <a:srgbClr val="0F172A"/>
                  </a:solidFill>
                </a:defRPr>
              </a:pPr>
              <a:r>
                <a:t>CINEMÁTICA Y CONTROL DE ROBOTS CUADRÚPEDO (UNITREE A1) Y HUMANOIDE (UNITREE H1) CON PROXQP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5550730" y="3786811"/>
              <a:ext cx="2900640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5013717"/>
            <a:ext cx="684780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t>Alumno: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637098"/>
            <a:ext cx="1006460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t>Docente: Robótica Avanzada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514547"/>
            <a:ext cx="10968154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t>Curso: Robótica Avanzada — Evaluación Continua 2 (Tarea 3)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03409" y="9912434"/>
            <a:ext cx="20354123" cy="3086100"/>
            <a:chOff x="0" y="0"/>
            <a:chExt cx="5360757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60757" cy="812800"/>
            </a:xfrm>
            <a:custGeom>
              <a:avLst/>
              <a:gdLst/>
              <a:ahLst/>
              <a:cxnLst/>
              <a:rect r="r" b="b" t="t" l="l"/>
              <a:pathLst>
                <a:path h="812800" w="5360757">
                  <a:moveTo>
                    <a:pt x="0" y="0"/>
                  </a:moveTo>
                  <a:lnTo>
                    <a:pt x="5360757" y="0"/>
                  </a:lnTo>
                  <a:lnTo>
                    <a:pt x="536075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3434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360757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679994" y="283651"/>
            <a:ext cx="2263163" cy="1427039"/>
          </a:xfrm>
          <a:custGeom>
            <a:avLst/>
            <a:gdLst/>
            <a:ahLst/>
            <a:cxnLst/>
            <a:rect r="r" b="b" t="t" l="l"/>
            <a:pathLst>
              <a:path h="1427039" w="2263163">
                <a:moveTo>
                  <a:pt x="0" y="0"/>
                </a:moveTo>
                <a:lnTo>
                  <a:pt x="2263163" y="0"/>
                </a:lnTo>
                <a:lnTo>
                  <a:pt x="2263163" y="1427039"/>
                </a:lnTo>
                <a:lnTo>
                  <a:pt x="0" y="14270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7" name="TextBox 6"/>
          <p:cNvSpPr txBox="1"/>
          <p:nvPr/>
        </p:nvSpPr>
        <p:spPr>
          <a:xfrm>
            <a:off x="1005840" y="502920"/>
            <a:ext cx="14173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0F172A"/>
                </a:solidFill>
              </a:defRPr>
            </a:pPr>
            <a:r>
              <a:t>1. Plataformas Robóticas Seleccionadas y Justificación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34440"/>
            <a:ext cx="14173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Análisis comparativo de grados de libertad, arquitectura mecánica y objetivos de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0" y="9144000"/>
            <a:ext cx="914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>
                <a:solidFill>
                  <a:srgbClr val="64748B"/>
                </a:solidFill>
              </a:defRPr>
            </a:pPr>
            <a:r>
              <a:t>2</a:t>
            </a:r>
          </a:p>
        </p:txBody>
      </p:sp>
      <p:pic>
        <p:nvPicPr>
          <p:cNvPr id="10" name="Picture 9" descr="unitree_a1_portra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1920240"/>
            <a:ext cx="3840480" cy="3657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5760720"/>
            <a:ext cx="3840480" cy="3291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 rIns="182880" bIns="137160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066CC"/>
                </a:solidFill>
              </a:defRPr>
            </a:pPr>
            <a:r>
              <a:t>ESPECIFICACIONES A1</a:t>
            </a:r>
          </a:p>
          <a:p>
            <a:pPr>
              <a:spcAft>
                <a:spcPts val="400"/>
              </a:spcAft>
              <a:defRPr b="1" sz="1250">
                <a:solidFill>
                  <a:srgbClr val="0F172A"/>
                </a:solidFill>
              </a:defRPr>
            </a:pPr>
            <a:r>
              <a:t>Grados de Libertad: </a:t>
            </a:r>
            <a:r>
              <a:rPr b="0">
                <a:solidFill>
                  <a:srgbClr val="1E293B"/>
                </a:solidFill>
              </a:rPr>
              <a:t>12 DOF (3 por pata)</a:t>
            </a:r>
          </a:p>
          <a:p>
            <a:pPr>
              <a:spcAft>
                <a:spcPts val="400"/>
              </a:spcAft>
              <a:defRPr b="1" sz="1250">
                <a:solidFill>
                  <a:srgbClr val="0F172A"/>
                </a:solidFill>
              </a:defRPr>
            </a:pPr>
            <a:r>
              <a:t>Masa Total: </a:t>
            </a:r>
            <a:r>
              <a:rPr b="0">
                <a:solidFill>
                  <a:srgbClr val="1E293B"/>
                </a:solidFill>
              </a:rPr>
              <a:t>12.0 kg</a:t>
            </a:r>
          </a:p>
          <a:p>
            <a:pPr>
              <a:spcAft>
                <a:spcPts val="400"/>
              </a:spcAft>
              <a:defRPr b="1" sz="1250">
                <a:solidFill>
                  <a:srgbClr val="0F172A"/>
                </a:solidFill>
              </a:defRPr>
            </a:pPr>
            <a:r>
              <a:t>Altura Nominal: </a:t>
            </a:r>
            <a:r>
              <a:rPr b="0">
                <a:solidFill>
                  <a:srgbClr val="1E293B"/>
                </a:solidFill>
              </a:rPr>
              <a:t>32.0 cm</a:t>
            </a:r>
          </a:p>
          <a:p>
            <a:pPr>
              <a:spcAft>
                <a:spcPts val="400"/>
              </a:spcAft>
              <a:defRPr b="1" sz="1250">
                <a:solidFill>
                  <a:srgbClr val="0F172A"/>
                </a:solidFill>
              </a:defRPr>
            </a:pPr>
            <a:r>
              <a:t>Control Frecuencia: </a:t>
            </a:r>
            <a:r>
              <a:rPr b="0">
                <a:solidFill>
                  <a:srgbClr val="1E293B"/>
                </a:solidFill>
              </a:rPr>
              <a:t>100 Hz (dt = 0.01 s)</a:t>
            </a:r>
          </a:p>
          <a:p>
            <a:pPr>
              <a:spcAft>
                <a:spcPts val="400"/>
              </a:spcAft>
              <a:defRPr b="1" sz="1250">
                <a:solidFill>
                  <a:srgbClr val="0F172A"/>
                </a:solidFill>
              </a:defRPr>
            </a:pPr>
            <a:r>
              <a:t>Cumplimiento: </a:t>
            </a:r>
            <a:r>
              <a:rPr b="0">
                <a:solidFill>
                  <a:srgbClr val="1E293B"/>
                </a:solidFill>
              </a:rPr>
              <a:t>Robot cuadrúpedo ≠ Laikago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920240"/>
            <a:ext cx="3749039" cy="7132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 bIns="182880" wrap="square"/>
          <a:lstStyle/>
          <a:p>
            <a:pPr algn="ctr">
              <a:spcAft>
                <a:spcPts val="800"/>
              </a:spcAft>
              <a:defRPr b="1" sz="1700">
                <a:solidFill>
                  <a:srgbClr val="0F172A"/>
                </a:solidFill>
              </a:defRPr>
            </a:pPr>
            <a:r>
              <a:t>Unitree A1 (Cuadrúpedo)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Plataforma móvil cuadrúpeda de alta dinámica para locomoción terrestre.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Justificación de selección: Seleccionado expresamente para cumplir con el requisito de utilizar un robot cuadrúpedo alternativo al modelo Laikago.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Arquitectura mecánica: Cuatro cadenas seriales idénticas conectadas a una base flotante.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Distribución articular: Cadera roll (abducción/aducción), cadera pitch (flexión) y rodilla pitch.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Objetivo de la tarea: Demostración de cinemática analítica cerrada pura (NumPy) y marcha secuencial estática Crawl.</a:t>
            </a:r>
          </a:p>
        </p:txBody>
      </p:sp>
      <p:pic>
        <p:nvPicPr>
          <p:cNvPr id="13" name="Picture 12" descr="unitree_h1_portrai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5440" y="1920240"/>
            <a:ext cx="3840480" cy="36576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235440" y="5760720"/>
            <a:ext cx="3840480" cy="3291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 rIns="182880" bIns="137160" wrap="square"/>
          <a:lstStyle/>
          <a:p>
            <a:pPr algn="ctr">
              <a:spcAft>
                <a:spcPts val="600"/>
              </a:spcAft>
              <a:defRPr b="1" sz="1200">
                <a:solidFill>
                  <a:srgbClr val="0066CC"/>
                </a:solidFill>
              </a:defRPr>
            </a:pPr>
            <a:r>
              <a:t>ESPECIFICACIONES H1</a:t>
            </a:r>
          </a:p>
          <a:p>
            <a:pPr>
              <a:spcAft>
                <a:spcPts val="400"/>
              </a:spcAft>
              <a:defRPr b="1" sz="1250">
                <a:solidFill>
                  <a:srgbClr val="0F172A"/>
                </a:solidFill>
              </a:defRPr>
            </a:pPr>
            <a:r>
              <a:t>Grados de Libertad: </a:t>
            </a:r>
            <a:r>
              <a:rPr b="0">
                <a:solidFill>
                  <a:srgbClr val="1E293B"/>
                </a:solidFill>
              </a:rPr>
              <a:t>19 DOF articulados</a:t>
            </a:r>
          </a:p>
          <a:p>
            <a:pPr>
              <a:spcAft>
                <a:spcPts val="400"/>
              </a:spcAft>
              <a:defRPr b="1" sz="1250">
                <a:solidFill>
                  <a:srgbClr val="0F172A"/>
                </a:solidFill>
              </a:defRPr>
            </a:pPr>
            <a:r>
              <a:t>Estatura / Masa: </a:t>
            </a:r>
            <a:r>
              <a:rPr b="0">
                <a:solidFill>
                  <a:srgbClr val="1E293B"/>
                </a:solidFill>
              </a:rPr>
              <a:t>1.80 m / 47.0 kg</a:t>
            </a:r>
          </a:p>
          <a:p>
            <a:pPr>
              <a:spcAft>
                <a:spcPts val="400"/>
              </a:spcAft>
              <a:defRPr b="1" sz="1250">
                <a:solidFill>
                  <a:srgbClr val="0F172A"/>
                </a:solidFill>
              </a:defRPr>
            </a:pPr>
            <a:r>
              <a:t>Cintura (Torso): </a:t>
            </a:r>
            <a:r>
              <a:rPr b="0">
                <a:solidFill>
                  <a:srgbClr val="1E293B"/>
                </a:solidFill>
              </a:rPr>
              <a:t>1 DOF (yaw Z: ±25.8°)</a:t>
            </a:r>
          </a:p>
          <a:p>
            <a:pPr>
              <a:spcAft>
                <a:spcPts val="400"/>
              </a:spcAft>
              <a:defRPr b="1" sz="1250">
                <a:solidFill>
                  <a:srgbClr val="0F172A"/>
                </a:solidFill>
              </a:defRPr>
            </a:pPr>
            <a:r>
              <a:t>Extremidades: </a:t>
            </a:r>
            <a:r>
              <a:rPr b="0">
                <a:solidFill>
                  <a:srgbClr val="1E293B"/>
                </a:solidFill>
              </a:rPr>
              <a:t>10 DOF piernas, 8 DOF brazos</a:t>
            </a:r>
          </a:p>
          <a:p>
            <a:pPr>
              <a:spcAft>
                <a:spcPts val="400"/>
              </a:spcAft>
              <a:defRPr b="1" sz="1250">
                <a:solidFill>
                  <a:srgbClr val="0F172A"/>
                </a:solidFill>
              </a:defRPr>
            </a:pPr>
            <a:r>
              <a:t>Simulador: </a:t>
            </a:r>
            <a:r>
              <a:rPr b="0">
                <a:solidFill>
                  <a:srgbClr val="1E293B"/>
                </a:solidFill>
              </a:rPr>
              <a:t>PyBullet con visualización directa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350240" y="1920240"/>
            <a:ext cx="3931920" cy="7132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 bIns="182880" wrap="square"/>
          <a:lstStyle/>
          <a:p>
            <a:pPr algn="ctr">
              <a:spcAft>
                <a:spcPts val="800"/>
              </a:spcAft>
              <a:defRPr b="1" sz="1700">
                <a:solidFill>
                  <a:srgbClr val="0F172A"/>
                </a:solidFill>
              </a:defRPr>
            </a:pPr>
            <a:r>
              <a:t>Unitree H1 (Humanoide)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Humanoide bípedo de escala real para investigación en manipulación móvil y locomoción bípeda.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Justificación de selección: Robot de alta dimensionalidad (19 DOF) idóneo para optimización cuadrática multitarea.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Análisis anatómico: Al carecer de articulación en cuello/cabeza, se utiliza el actuador torso_joint (yaw Z) para orientar el campo visual.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Objetivo Movimiento A: Coordinación rítmica de brazos con giro oscilatorio de cintura (Meme '6-7').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Objetivo Movimiento B: Agache profundo descendiendo pelvis 52 cm para recolección en piso.</a:t>
            </a:r>
          </a:p>
        </p:txBody>
      </p:sp>
    </p:spTree>
  </p:cSld>
  <p:clrMapOvr>
    <a:masterClrMapping/>
  </p:clrMapOvr>
  <p:transition spd="fast">
    <p:cover dir="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03409" y="9912434"/>
            <a:ext cx="20354123" cy="3086100"/>
            <a:chOff x="0" y="0"/>
            <a:chExt cx="5360757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60757" cy="812800"/>
            </a:xfrm>
            <a:custGeom>
              <a:avLst/>
              <a:gdLst/>
              <a:ahLst/>
              <a:cxnLst/>
              <a:rect r="r" b="b" t="t" l="l"/>
              <a:pathLst>
                <a:path h="812800" w="5360757">
                  <a:moveTo>
                    <a:pt x="0" y="0"/>
                  </a:moveTo>
                  <a:lnTo>
                    <a:pt x="5360757" y="0"/>
                  </a:lnTo>
                  <a:lnTo>
                    <a:pt x="536075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3434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360757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679994" y="283651"/>
            <a:ext cx="2263163" cy="1427039"/>
          </a:xfrm>
          <a:custGeom>
            <a:avLst/>
            <a:gdLst/>
            <a:ahLst/>
            <a:cxnLst/>
            <a:rect r="r" b="b" t="t" l="l"/>
            <a:pathLst>
              <a:path h="1427039" w="2263163">
                <a:moveTo>
                  <a:pt x="0" y="0"/>
                </a:moveTo>
                <a:lnTo>
                  <a:pt x="2263163" y="0"/>
                </a:lnTo>
                <a:lnTo>
                  <a:pt x="2263163" y="1427039"/>
                </a:lnTo>
                <a:lnTo>
                  <a:pt x="0" y="14270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7" name="TextBox 6"/>
          <p:cNvSpPr txBox="1"/>
          <p:nvPr/>
        </p:nvSpPr>
        <p:spPr>
          <a:xfrm>
            <a:off x="1005840" y="502920"/>
            <a:ext cx="14173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0F172A"/>
                </a:solidFill>
              </a:defRPr>
            </a:pPr>
            <a:r>
              <a:t>2. Modelado Cinemático y Jacobiano Analítico (Unitree A1)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34440"/>
            <a:ext cx="14173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Derivación matemática cerrada desde primeros principios (NumPy) y validación de precisión de máquina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0" y="9144000"/>
            <a:ext cx="914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920240"/>
            <a:ext cx="7863840" cy="3291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 bIns="182880" wrap="square"/>
          <a:lstStyle/>
          <a:p>
            <a:pPr algn="ctr">
              <a:spcAft>
                <a:spcPts val="800"/>
              </a:spcAft>
              <a:defRPr b="1" sz="1700">
                <a:solidFill>
                  <a:srgbClr val="0F172A"/>
                </a:solidFill>
              </a:defRPr>
            </a:pPr>
            <a:r>
              <a:t>Derivación Matemática Analítica (Primeros Principios)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Cinemática Directa (FK): Matrices homogéneas exactas Rx(q1) * Ry(q2) * Ry(q3) considerando offsets de cadera (dx=0.1805m, dy=0.047m) y eslabones (0.2m, 0.2m).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Jacobiano Geométrico Analítico (12x12): Derivado analíticamente mediante producto vectorial Ji = zi x (p_pie - pi) para cada eje de rotación.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Cero librerías externas: Implementación 100% matemática en NumPy puro, sin diferencias finitas ni librerías cinemáticas intermedias.</a:t>
            </a:r>
          </a:p>
        </p:txBody>
      </p:sp>
      <p:pic>
        <p:nvPicPr>
          <p:cNvPr id="11" name="Picture 10" descr="part1_estructura_robot_3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5394960"/>
            <a:ext cx="7863840" cy="36576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35440" y="1920240"/>
            <a:ext cx="8046720" cy="3291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 bIns="182880" wrap="square"/>
          <a:lstStyle/>
          <a:p>
            <a:pPr algn="ctr">
              <a:spcAft>
                <a:spcPts val="800"/>
              </a:spcAft>
              <a:defRPr b="1" sz="1700">
                <a:solidFill>
                  <a:srgbClr val="0F172A"/>
                </a:solidFill>
              </a:defRPr>
            </a:pPr>
            <a:r>
              <a:t>Benchmark Numérico vs Pinocchio (200 Muestras)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200 configuraciones articulares aleatorias uniformes sobre el espacio de trabajo físico completo.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Error cartesiano máximo en FK: 1.11 x 10^-16 metros (límite físico IEEE 754 de doble precisión float64).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Error máximo en Jacobiano: 1.11 x 10^-16 s^-1, demostrando identidad algebraica perfecta.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Velocidad de cómputo analítico: &lt; 45 microsegundos por configuración, apto para control en tiempo real.</a:t>
            </a:r>
          </a:p>
        </p:txBody>
      </p:sp>
      <p:pic>
        <p:nvPicPr>
          <p:cNvPr id="13" name="Picture 12" descr="part1_errores_benchmar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5440" y="5394960"/>
            <a:ext cx="8046720" cy="3657600"/>
          </a:xfrm>
          <a:prstGeom prst="rect">
            <a:avLst/>
          </a:prstGeom>
        </p:spPr>
      </p:pic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" t="0" r="-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03409" y="9912434"/>
            <a:ext cx="20354123" cy="3086100"/>
            <a:chOff x="0" y="0"/>
            <a:chExt cx="5360757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60757" cy="812800"/>
            </a:xfrm>
            <a:custGeom>
              <a:avLst/>
              <a:gdLst/>
              <a:ahLst/>
              <a:cxnLst/>
              <a:rect r="r" b="b" t="t" l="l"/>
              <a:pathLst>
                <a:path h="812800" w="5360757">
                  <a:moveTo>
                    <a:pt x="0" y="0"/>
                  </a:moveTo>
                  <a:lnTo>
                    <a:pt x="5360757" y="0"/>
                  </a:lnTo>
                  <a:lnTo>
                    <a:pt x="536075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3434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360757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679994" y="283651"/>
            <a:ext cx="2263163" cy="1427039"/>
          </a:xfrm>
          <a:custGeom>
            <a:avLst/>
            <a:gdLst/>
            <a:ahLst/>
            <a:cxnLst/>
            <a:rect r="r" b="b" t="t" l="l"/>
            <a:pathLst>
              <a:path h="1427039" w="2263163">
                <a:moveTo>
                  <a:pt x="0" y="0"/>
                </a:moveTo>
                <a:lnTo>
                  <a:pt x="2263163" y="0"/>
                </a:lnTo>
                <a:lnTo>
                  <a:pt x="2263163" y="1427039"/>
                </a:lnTo>
                <a:lnTo>
                  <a:pt x="0" y="14270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7" name="TextBox 6"/>
          <p:cNvSpPr txBox="1"/>
          <p:nvPr/>
        </p:nvSpPr>
        <p:spPr>
          <a:xfrm>
            <a:off x="1005840" y="502920"/>
            <a:ext cx="14173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0F172A"/>
                </a:solidFill>
              </a:defRPr>
            </a:pPr>
            <a:r>
              <a:t>3. Control Cinemático y Locomoción Cuadrúpeda (Unitree A1)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34440"/>
            <a:ext cx="14173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Inversión cinemática en lazo cerrado (CLIK) con ProxQP a 100 Hz y marcha secuencial estática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0" y="9144000"/>
            <a:ext cx="914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>
                <a:solidFill>
                  <a:srgbClr val="64748B"/>
                </a:solidFill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920240"/>
            <a:ext cx="7863840" cy="37490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 bIns="182880" wrap="square"/>
          <a:lstStyle/>
          <a:p>
            <a:pPr algn="ctr">
              <a:spcAft>
                <a:spcPts val="800"/>
              </a:spcAft>
              <a:defRPr b="1" sz="1700">
                <a:solidFill>
                  <a:srgbClr val="0F172A"/>
                </a:solidFill>
              </a:defRPr>
            </a:pPr>
            <a:r>
              <a:t>Control por Optimización Cuadrática (ProxQP a 100 Hz)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Ley CLIK en lazo cerrado: v_ref = v_des + Kp * (p_des - p_actual), con ganancia proporcional Kp = 20.0.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Formulación QP:</a:t>
            </a:r>
            <a:br/>
            <a:r>
              <a:t>  min  0.5 || J dq - v_ref ||^2_W + 0.5 lambda ||dq||^2</a:t>
            </a:r>
            <a:br/>
            <a:r>
              <a:t>  s.a. dq_min &lt;= dq &lt;= dq_max,  (q_min - q)/dt &lt;= dq &lt;= (q_max - q)/dt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Marcha secuencial Crawl: FL -&gt; RR -&gt; FR -&gt; RL, garantizando siempre soporte estático en trípode.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Perfil quíntico de balanceo (Swing): Elevación vertical h = 8.0 cm y avance horizontal Delta x = 10.0 cm.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Precisión cartesiana submilimétrica: Error medio de 0.54 mm y máximo de 0.89 mm en todo el ciclo.</a:t>
            </a:r>
          </a:p>
        </p:txBody>
      </p:sp>
      <p:pic>
        <p:nvPicPr>
          <p:cNvPr id="11" name="part2_a1_gait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005840" y="5852160"/>
            <a:ext cx="7863840" cy="3200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005840" y="8458200"/>
            <a:ext cx="786384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>
              <a:defRPr b="1" sz="1250">
                <a:solidFill>
                  <a:srgbClr val="38BDF8"/>
                </a:solidFill>
              </a:defRPr>
            </a:pPr>
            <a:r>
              <a:t>▶ Video: Locomoción Cuadrúpeda Unitree A1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Marcha Crawl 4 pasos | Cámara dinámica y HUD de soporte</a:t>
            </a:r>
          </a:p>
        </p:txBody>
      </p:sp>
      <p:pic>
        <p:nvPicPr>
          <p:cNvPr id="13" name="Picture 12" descr="part2_all_steps_gri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5440" y="1920240"/>
            <a:ext cx="8046720" cy="7132320"/>
          </a:xfrm>
          <a:prstGeom prst="rect">
            <a:avLst/>
          </a:prstGeom>
        </p:spPr>
      </p:pic>
    </p:spTree>
  </p:cSld>
  <p:clrMapOvr>
    <a:masterClrMapping/>
  </p:clrMapOvr>
  <p:transition spd="fast">
    <p:push dir="l"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" t="0" r="-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03409" y="9912434"/>
            <a:ext cx="20354123" cy="3086100"/>
            <a:chOff x="0" y="0"/>
            <a:chExt cx="5360757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60757" cy="812800"/>
            </a:xfrm>
            <a:custGeom>
              <a:avLst/>
              <a:gdLst/>
              <a:ahLst/>
              <a:cxnLst/>
              <a:rect r="r" b="b" t="t" l="l"/>
              <a:pathLst>
                <a:path h="812800" w="5360757">
                  <a:moveTo>
                    <a:pt x="0" y="0"/>
                  </a:moveTo>
                  <a:lnTo>
                    <a:pt x="5360757" y="0"/>
                  </a:lnTo>
                  <a:lnTo>
                    <a:pt x="536075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3434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360757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679994" y="283651"/>
            <a:ext cx="2263163" cy="1427039"/>
          </a:xfrm>
          <a:custGeom>
            <a:avLst/>
            <a:gdLst/>
            <a:ahLst/>
            <a:cxnLst/>
            <a:rect r="r" b="b" t="t" l="l"/>
            <a:pathLst>
              <a:path h="1427039" w="2263163">
                <a:moveTo>
                  <a:pt x="0" y="0"/>
                </a:moveTo>
                <a:lnTo>
                  <a:pt x="2263163" y="0"/>
                </a:lnTo>
                <a:lnTo>
                  <a:pt x="2263163" y="1427039"/>
                </a:lnTo>
                <a:lnTo>
                  <a:pt x="0" y="14270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7" name="TextBox 6"/>
          <p:cNvSpPr txBox="1"/>
          <p:nvPr/>
        </p:nvSpPr>
        <p:spPr>
          <a:xfrm>
            <a:off x="1005840" y="502920"/>
            <a:ext cx="14173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0F172A"/>
                </a:solidFill>
              </a:defRPr>
            </a:pPr>
            <a:r>
              <a:t>4. Modelado y Control Cinemático de Humanoide (Unitree H1)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34440"/>
            <a:ext cx="14173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Control de 19 DOF con tareas prioritarias de manipulación cartesiana, giro de cintura y agache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0" y="9144000"/>
            <a:ext cx="914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>
                <a:solidFill>
                  <a:srgbClr val="64748B"/>
                </a:solidFill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920240"/>
            <a:ext cx="786384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 bIns="182880" wrap="square"/>
          <a:lstStyle/>
          <a:p>
            <a:pPr algn="ctr">
              <a:spcAft>
                <a:spcPts val="800"/>
              </a:spcAft>
              <a:defRPr b="1" sz="1700">
                <a:solidFill>
                  <a:srgbClr val="0F172A"/>
                </a:solidFill>
              </a:defRPr>
            </a:pPr>
            <a:r>
              <a:t>Movimiento A: Brazos Alternados '6-7' y Cintura Yaw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Articulación de cintura: El H1 posee torso_joint (yaw Z, articulación 10). Se controla explícitamente para orientar el cuerpo.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Tarea prioritaria en QP (peso 2.5): Oscilación sinusoidal amplia de +/- 25.8° (+/- 0.45 rad) a f = 0.5 Hz.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Gesto rítmico '6-7':</a:t>
            </a:r>
            <a:br/>
            <a:r>
              <a:t>  - Semiciclo derecho: Brazo derecho sube +35 cm mientras torso gira a la derecha.</a:t>
            </a:r>
            <a:br/>
            <a:r>
              <a:t>  - Semiciclo izquierdo: Brazo izquierdo sube +35 cm mientras torso gira a la izquierda.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Coordinación natural: La cinemática distribuye el movimiento entre hombros y codos sin singularidades.</a:t>
            </a:r>
          </a:p>
        </p:txBody>
      </p:sp>
      <p:pic>
        <p:nvPicPr>
          <p:cNvPr id="11" name="Picture 10" descr="part3_dual_arms_wai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840" y="5760720"/>
            <a:ext cx="7863840" cy="32918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35440" y="1920240"/>
            <a:ext cx="804672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 bIns="182880" wrap="square"/>
          <a:lstStyle/>
          <a:p>
            <a:pPr algn="ctr">
              <a:spcAft>
                <a:spcPts val="800"/>
              </a:spcAft>
              <a:defRPr b="1" sz="1700">
                <a:solidFill>
                  <a:srgbClr val="0F172A"/>
                </a:solidFill>
              </a:defRPr>
            </a:pPr>
            <a:r>
              <a:t>Movimiento B: Agache Profundo y Recolección en Piso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Objetivo físico: Alcanzar cilindro en el suelo en [0.28, -0.18, 0.08] m (altura objetivo z = 0.16 m).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Descenso guiado de pelvis: Reducción vertical de 52 cm (desde z=0.98m hasta z=0.46m).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Estabilidad del Centro de Masas (CoM): Inclinación frontal coordinada del torso (pitch = 31.5°) para mantener la proyección del CoM dentro del polígono de soporte plantar.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Cinemática de piernas: Flexión articular simétrica de rodillas (111.7°), caderas (-88.8°) y tobillos (-54.4°).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Retorno seguro: Reincorporación completa a postura erguida con error nulo.</a:t>
            </a:r>
          </a:p>
        </p:txBody>
      </p:sp>
      <p:pic>
        <p:nvPicPr>
          <p:cNvPr id="13" name="Picture 12" descr="part3_crouch_floo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5440" y="5760720"/>
            <a:ext cx="8046720" cy="3291840"/>
          </a:xfrm>
          <a:prstGeom prst="rect">
            <a:avLst/>
          </a:prstGeom>
        </p:spPr>
      </p:pic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" t="0" r="-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03409" y="9912434"/>
            <a:ext cx="20354123" cy="3086100"/>
            <a:chOff x="0" y="0"/>
            <a:chExt cx="5360757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60757" cy="812800"/>
            </a:xfrm>
            <a:custGeom>
              <a:avLst/>
              <a:gdLst/>
              <a:ahLst/>
              <a:cxnLst/>
              <a:rect r="r" b="b" t="t" l="l"/>
              <a:pathLst>
                <a:path h="812800" w="5360757">
                  <a:moveTo>
                    <a:pt x="0" y="0"/>
                  </a:moveTo>
                  <a:lnTo>
                    <a:pt x="5360757" y="0"/>
                  </a:lnTo>
                  <a:lnTo>
                    <a:pt x="536075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3434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360757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679994" y="283651"/>
            <a:ext cx="2263163" cy="1427039"/>
          </a:xfrm>
          <a:custGeom>
            <a:avLst/>
            <a:gdLst/>
            <a:ahLst/>
            <a:cxnLst/>
            <a:rect r="r" b="b" t="t" l="l"/>
            <a:pathLst>
              <a:path h="1427039" w="2263163">
                <a:moveTo>
                  <a:pt x="0" y="0"/>
                </a:moveTo>
                <a:lnTo>
                  <a:pt x="2263163" y="0"/>
                </a:lnTo>
                <a:lnTo>
                  <a:pt x="2263163" y="1427039"/>
                </a:lnTo>
                <a:lnTo>
                  <a:pt x="0" y="14270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7" name="TextBox 6"/>
          <p:cNvSpPr txBox="1"/>
          <p:nvPr/>
        </p:nvSpPr>
        <p:spPr>
          <a:xfrm>
            <a:off x="1005840" y="502920"/>
            <a:ext cx="14173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0F172A"/>
                </a:solidFill>
              </a:defRPr>
            </a:pPr>
            <a:r>
              <a:t>5. Simulación del Humanoide H1 y Desempeño Temporal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34440"/>
            <a:ext cx="14173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Validación en PyBullet y curvas temporales de seguimiento de pelvis, mano derecha y cintura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0" y="9144000"/>
            <a:ext cx="914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>
                <a:solidFill>
                  <a:srgbClr val="64748B"/>
                </a:solidFill>
              </a:defRPr>
            </a:pPr>
            <a:r>
              <a:t>6</a:t>
            </a:r>
          </a:p>
        </p:txBody>
      </p:sp>
      <p:pic>
        <p:nvPicPr>
          <p:cNvPr id="10" name="Picture 9" descr="part3_motion_sequence_gr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1920240"/>
            <a:ext cx="7863840" cy="4023360"/>
          </a:xfrm>
          <a:prstGeom prst="rect">
            <a:avLst/>
          </a:prstGeom>
        </p:spPr>
      </p:pic>
      <p:pic>
        <p:nvPicPr>
          <p:cNvPr id="11" name="part3_h1_humanoid.mp4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005840" y="6126480"/>
            <a:ext cx="7863840" cy="29260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005840" y="8458200"/>
            <a:ext cx="786384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>
              <a:defRPr b="1" sz="1250">
                <a:solidFill>
                  <a:srgbClr val="38BDF8"/>
                </a:solidFill>
              </a:defRPr>
            </a:pPr>
            <a:r>
              <a:t>▶ Video: Demostración Completa Humanoide H1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Postura erguida -&gt; Gesto 6-7 con cintura -&gt; Agache al piso -&gt; Retorno</a:t>
            </a:r>
          </a:p>
        </p:txBody>
      </p:sp>
      <p:pic>
        <p:nvPicPr>
          <p:cNvPr id="13" name="Picture 12" descr="part3_h1_track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5440" y="1920240"/>
            <a:ext cx="8046720" cy="7132320"/>
          </a:xfrm>
          <a:prstGeom prst="rect">
            <a:avLst/>
          </a:prstGeom>
        </p:spPr>
      </p:pic>
    </p:spTree>
  </p:cSld>
  <p:clrMapOvr>
    <a:masterClrMapping/>
  </p:clrMapOvr>
  <p:transition spd="fast">
    <p:push dir="l"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684" cy="10287002"/>
          </a:xfrm>
          <a:custGeom>
            <a:avLst/>
            <a:gdLst/>
            <a:ahLst/>
            <a:cxnLst/>
            <a:rect r="r" b="b" t="t" l="l"/>
            <a:pathLst>
              <a:path h="10287002" w="18288684">
                <a:moveTo>
                  <a:pt x="0" y="0"/>
                </a:moveTo>
                <a:lnTo>
                  <a:pt x="18288684" y="0"/>
                </a:lnTo>
                <a:lnTo>
                  <a:pt x="18288684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4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261999" y="7821195"/>
            <a:ext cx="2913556" cy="1617828"/>
          </a:xfrm>
          <a:custGeom>
            <a:avLst/>
            <a:gdLst/>
            <a:ahLst/>
            <a:cxnLst/>
            <a:rect r="r" b="b" t="t" l="l"/>
            <a:pathLst>
              <a:path h="1617828" w="2913556">
                <a:moveTo>
                  <a:pt x="0" y="0"/>
                </a:moveTo>
                <a:lnTo>
                  <a:pt x="2913557" y="0"/>
                </a:lnTo>
                <a:lnTo>
                  <a:pt x="2913557" y="1617828"/>
                </a:lnTo>
                <a:lnTo>
                  <a:pt x="0" y="1617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1881" r="-117495" b="-67"/>
            </a:stretch>
          </a:blipFill>
        </p:spPr>
        <p:txBody>
          <a:bodyPr/>
          <a:p/>
        </p:txBody>
      </p:sp>
      <p:sp>
        <p:nvSpPr>
          <p:cNvPr id="4" name="TextBox 3"/>
          <p:cNvSpPr txBox="1"/>
          <p:nvPr/>
        </p:nvSpPr>
        <p:spPr>
          <a:xfrm>
            <a:off x="1005840" y="731520"/>
            <a:ext cx="1005840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¡Muchas Gracias!</a:t>
            </a:r>
          </a:p>
          <a:p>
            <a:pPr>
              <a:defRPr sz="2000">
                <a:solidFill>
                  <a:srgbClr val="0066CC"/>
                </a:solidFill>
              </a:defRPr>
            </a:pPr>
            <a:r>
              <a:t>Espacio para Preguntas y Discusión Técnica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377440"/>
            <a:ext cx="89611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01168" rIns="228600" bIns="182880" wrap="square"/>
          <a:lstStyle/>
          <a:p>
            <a:pPr algn="ctr">
              <a:spcAft>
                <a:spcPts val="800"/>
              </a:spcAft>
              <a:defRPr b="1" sz="1700">
                <a:solidFill>
                  <a:srgbClr val="0F172A"/>
                </a:solidFill>
              </a:defRPr>
            </a:pPr>
            <a:r>
              <a:t>Conclusiones y Logros Clave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Modelado Analítico Exacto: Formulación analítica en NumPy con error 1.11 x 10^-16 m (límite numérico IEEE 754), validando la cinemática de extremidades cuadrúpedas.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Control Cinemático Robusto: Formulación cuadrática ProxQP a 100 Hz con manejo estricto de límites de velocidad y posición articular.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Locomoción Estable: Marcha Crawl quíntica con soporte en trípode continuo y elevación vertical limpia de 8 cm.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</a:defRPr>
            </a:pPr>
            <a:r>
              <a:t>• Humanoide de Cuerpo Completo: Solución coordinada multitarea para 19 DOF integrando giro de cintura yaw (±25.8°) y agache profundo para recolección en piso.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6492240"/>
            <a:ext cx="896112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ctr">
              <a:defRPr b="1" sz="1200">
                <a:solidFill>
                  <a:srgbClr val="38BDF8"/>
                </a:solidFill>
              </a:defRPr>
            </a:pPr>
            <a:r>
              <a:t>REPOSITORIO DEL PROYECTO (CÓDIGO, VIDEOS Y REPORTES)</a:t>
            </a:r>
          </a:p>
          <a:p>
            <a:pPr>
              <a:defRPr b="1" sz="1400">
                <a:solidFill>
                  <a:srgbClr val="FFFFFF"/>
                </a:solidFill>
              </a:defRPr>
            </a:pPr>
            <a:r>
              <a:t>GitHub: https://github.com/Nvm230/EC2_PT3_RA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Autor: Marco Antonio Alegría | UTEC — Octubre 2026</a:t>
            </a:r>
          </a:p>
        </p:txBody>
      </p:sp>
    </p:spTree>
  </p:cSld>
  <p:clrMapOvr>
    <a:masterClrMapping/>
  </p:clrMapOvr>
  <p:transition spd="fast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9"/>
          </a:xfrm>
          <a:custGeom>
            <a:avLst/>
            <a:gdLst/>
            <a:ahLst/>
            <a:cxnLst/>
            <a:rect r="r" b="b" t="t" l="l"/>
            <a:pathLst>
              <a:path h="10287009" w="18288000">
                <a:moveTo>
                  <a:pt x="0" y="0"/>
                </a:moveTo>
                <a:lnTo>
                  <a:pt x="18288000" y="0"/>
                </a:lnTo>
                <a:lnTo>
                  <a:pt x="18288000" y="10287009"/>
                </a:lnTo>
                <a:lnTo>
                  <a:pt x="0" y="102870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08046" y="3550748"/>
            <a:ext cx="8750118" cy="286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52"/>
              </a:lnSpc>
            </a:pPr>
            <a:r>
              <a:rPr lang="en-US" b="true" sz="16751" spc="156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ANEXOS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DAHOznN1l18</dc:identifier>
  <dcterms:modified xsi:type="dcterms:W3CDTF">2011-08-01T06:04:30Z</dcterms:modified>
  <cp:revision>1</cp:revision>
  <dc:title>Presentacion_MT5103_S16</dc:title>
</cp:coreProperties>
</file>